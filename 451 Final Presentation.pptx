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  <p:sldMasterId id="2147483657" r:id="rId4"/>
    <p:sldMasterId id="2147483658" r:id="rId5"/>
    <p:sldMasterId id="2147483659" r:id="rId6"/>
    <p:sldMasterId id="2147483660" r:id="rId7"/>
    <p:sldMasterId id="2147483661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RobotoMono-regular.fntdata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e98f65c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1ee98f65c7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ee98f65c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1ee98f65c7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ee98f65c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ee98f65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ee98f65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1ee98f65c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ee98f65c7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ee98f65c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ee98f65c7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ee98f65c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ee98f65c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ee98f65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ee98f65c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ee98f65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e98f65c7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ee98f65c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ee98f65c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1ee98f65c7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ee98f65c7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ee98f65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ee98f65c7_2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ee98f65c7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ee98f65c7_2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ee98f65c7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30873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3889983"/>
            <a:ext cx="9144000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457950" y="4767263"/>
            <a:ext cx="5016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Content Slide 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6457950" y="4767263"/>
            <a:ext cx="5016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3">
  <p:cSld name="Content Slide 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457950" y="4767263"/>
            <a:ext cx="5016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4">
  <p:cSld name="Content Slide 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6457950" y="4767263"/>
            <a:ext cx="50165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 Slide 5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ctrTitle"/>
          </p:nvPr>
        </p:nvSpPr>
        <p:spPr>
          <a:xfrm>
            <a:off x="0" y="2349499"/>
            <a:ext cx="91440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 Slide 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930873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 Slide 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0" y="2349499"/>
            <a:ext cx="91440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4.jp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image" Target="../media/image14.jp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14.jpg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8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8706"/>
          <a:stretch/>
        </p:blipFill>
        <p:spPr>
          <a:xfrm>
            <a:off x="-4412" y="0"/>
            <a:ext cx="91484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2171700"/>
            <a:ext cx="9144000" cy="29718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2647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0650" y="563785"/>
            <a:ext cx="1282700" cy="13670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1">
            <a:alphaModFix amt="10000"/>
          </a:blip>
          <a:srcRect b="0" l="0" r="0" t="8706"/>
          <a:stretch/>
        </p:blipFill>
        <p:spPr>
          <a:xfrm>
            <a:off x="-4412" y="0"/>
            <a:ext cx="914841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90864"/>
          <a:stretch/>
        </p:blipFill>
        <p:spPr>
          <a:xfrm>
            <a:off x="0" y="4673600"/>
            <a:ext cx="9144000" cy="469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1">
            <a:alphaModFix amt="15000"/>
          </a:blip>
          <a:srcRect b="0" l="0" r="0" t="8608"/>
          <a:stretch/>
        </p:blipFill>
        <p:spPr>
          <a:xfrm>
            <a:off x="5427" y="0"/>
            <a:ext cx="913857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90864"/>
          <a:stretch/>
        </p:blipFill>
        <p:spPr>
          <a:xfrm>
            <a:off x="0" y="4673600"/>
            <a:ext cx="9144000" cy="469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1">
            <a:alphaModFix amt="10000"/>
          </a:blip>
          <a:srcRect b="0" l="0" r="0" t="8706"/>
          <a:stretch/>
        </p:blipFill>
        <p:spPr>
          <a:xfrm>
            <a:off x="-4412" y="0"/>
            <a:ext cx="914841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90864"/>
          <a:stretch/>
        </p:blipFill>
        <p:spPr>
          <a:xfrm>
            <a:off x="0" y="4673600"/>
            <a:ext cx="9144000" cy="469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1">
            <a:alphaModFix/>
          </a:blip>
          <a:srcRect b="0" l="0" r="0" t="90864"/>
          <a:stretch/>
        </p:blipFill>
        <p:spPr>
          <a:xfrm>
            <a:off x="0" y="4673600"/>
            <a:ext cx="9144000" cy="469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/>
          <p:cNvPicPr preferRelativeResize="0"/>
          <p:nvPr/>
        </p:nvPicPr>
        <p:blipFill rotWithShape="1">
          <a:blip r:embed="rId1">
            <a:alphaModFix/>
          </a:blip>
          <a:srcRect b="0" l="0" r="0" t="8609"/>
          <a:stretch/>
        </p:blipFill>
        <p:spPr>
          <a:xfrm rot="10800000">
            <a:off x="5428" y="0"/>
            <a:ext cx="913857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0650" y="970185"/>
            <a:ext cx="1282701" cy="13670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">
            <a:alphaModFix/>
          </a:blip>
          <a:srcRect b="0" l="0" r="0" t="8709"/>
          <a:stretch/>
        </p:blipFill>
        <p:spPr>
          <a:xfrm>
            <a:off x="-4412" y="0"/>
            <a:ext cx="914840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0650" y="678085"/>
            <a:ext cx="1282701" cy="136708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0" y="2171700"/>
            <a:ext cx="9144000" cy="29718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2647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0" y="3889983"/>
            <a:ext cx="9144000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YIOU WANG, ERIKSEN CAO, ZHENGXUE ZHU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junzhec@umich.edu</a:t>
            </a:r>
            <a:endParaRPr/>
          </a:p>
        </p:txBody>
      </p:sp>
      <p:sp>
        <p:nvSpPr>
          <p:cNvPr id="68" name="Google Shape;68;p16"/>
          <p:cNvSpPr txBox="1"/>
          <p:nvPr>
            <p:ph type="ctrTitle"/>
          </p:nvPr>
        </p:nvSpPr>
        <p:spPr>
          <a:xfrm>
            <a:off x="0" y="1930873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Understanding H1N1 Vaccination Behavior with Bayesian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0" y="1930873"/>
            <a:ext cx="9144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Problem Description</a:t>
            </a:r>
            <a:endParaRPr/>
          </a:p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628650" y="339700"/>
            <a:ext cx="7886700" cy="4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What is the issue?</a:t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H1N1 flu remains a significant public health concern, requiring widespread vaccination to prevent outbreaks. </a:t>
            </a:r>
            <a:r>
              <a:rPr lang="en-US"/>
              <a:t>We aim to predict the likelihood of individuals receiving the H1N1 vaccine using </a:t>
            </a:r>
            <a:r>
              <a:rPr lang="en-US"/>
              <a:t>demographic, behavioral, and geographic </a:t>
            </a:r>
            <a:r>
              <a:rPr lang="en-US"/>
              <a:t>features, like location, race,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Why it is important?</a:t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Understanding factors that influence vaccination uptake can help design effective outreach programs.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ctrTitle"/>
          </p:nvPr>
        </p:nvSpPr>
        <p:spPr>
          <a:xfrm>
            <a:off x="0" y="2349499"/>
            <a:ext cx="91440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Data Description &amp; Visualization</a:t>
            </a:r>
            <a:endParaRPr/>
          </a:p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Dataset Overview</a:t>
            </a:r>
            <a:endParaRPr/>
          </a:p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628650" y="1231900"/>
            <a:ext cx="8204400" cy="3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 Source: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Data from the 2009 National H1N1 Flu Survey, covering demographics, behaviors, and opinions on vaccination.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Dataset Details: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Target Variable: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h1n1_vaccine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(binary: 1 = vaccinated, 0 = not vaccinated).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36 features, 26,707 individuals.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 Types: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Categorical 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qualification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census_msa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Numeric 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no_of_adults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no_of_children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Feature Categories: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Demographics(e.g.,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qualification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census_msa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age_bracket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sex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Behaviors(e.g.,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h1n1_worry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avoid_large_gatherings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.)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Health Indicators(e.g.,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chronic_medic_condition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has_health_insur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Missing Data: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Some variables (e.g.,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has_health_insur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) have substantial missing values requiring imputation.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ctrTitle"/>
          </p:nvPr>
        </p:nvSpPr>
        <p:spPr>
          <a:xfrm>
            <a:off x="628650" y="282575"/>
            <a:ext cx="78867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000"/>
              <a:t>Data Preprocessing &amp; Cleaning</a:t>
            </a:r>
            <a:endParaRPr sz="3800"/>
          </a:p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</a:t>
            </a:r>
            <a:r>
              <a:rPr lang="en-US" sz="2200"/>
              <a:t>issing values handling: replacing empty strings with NA, then imputing numeric variables with their median, and categorical variables with their mode.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Categorical variables are converted into numeric form using ordinal encoding for variables with a natural order (e.g., income levels) and factor encoding for others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ctrTitle"/>
          </p:nvPr>
        </p:nvSpPr>
        <p:spPr>
          <a:xfrm>
            <a:off x="628650" y="282575"/>
            <a:ext cx="788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3600"/>
              <a:t>E</a:t>
            </a:r>
            <a:r>
              <a:rPr lang="en-US" sz="3600"/>
              <a:t>xploratory Data Analysis</a:t>
            </a:r>
            <a:endParaRPr sz="3600"/>
          </a:p>
        </p:txBody>
      </p:sp>
      <p:sp>
        <p:nvSpPr>
          <p:cNvPr id="103" name="Google Shape;103;p22"/>
          <p:cNvSpPr txBox="1"/>
          <p:nvPr>
            <p:ph idx="1" type="subTitle"/>
          </p:nvPr>
        </p:nvSpPr>
        <p:spPr>
          <a:xfrm>
            <a:off x="628650" y="1231900"/>
            <a:ext cx="7886700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Content</a:t>
            </a:r>
            <a:endParaRPr/>
          </a:p>
        </p:txBody>
      </p:sp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239" y="1126262"/>
            <a:ext cx="4974735" cy="29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83375"/>
            <a:ext cx="4482777" cy="28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ctrTitle"/>
          </p:nvPr>
        </p:nvSpPr>
        <p:spPr>
          <a:xfrm>
            <a:off x="628650" y="282575"/>
            <a:ext cx="7886700" cy="7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Feature Selection</a:t>
            </a:r>
            <a:endParaRPr sz="3800"/>
          </a:p>
        </p:txBody>
      </p:sp>
      <p:sp>
        <p:nvSpPr>
          <p:cNvPr id="111" name="Google Shape;111;p23"/>
          <p:cNvSpPr txBox="1"/>
          <p:nvPr>
            <p:ph idx="1" type="subTitle"/>
          </p:nvPr>
        </p:nvSpPr>
        <p:spPr>
          <a:xfrm>
            <a:off x="628650" y="1231900"/>
            <a:ext cx="7886700" cy="32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 univariate logistic regression was performed for each feature independently. The p-value for each feature was extracted from the regression model summary.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Features with a p-value &lt; 0.05 were selected</a:t>
            </a:r>
            <a:endParaRPr sz="2200"/>
          </a:p>
        </p:txBody>
      </p:sp>
      <p:pic>
        <p:nvPicPr>
          <p:cNvPr id="112" name="Google Shape;112;p23"/>
          <p:cNvPicPr preferRelativeResize="0"/>
          <p:nvPr/>
        </p:nvPicPr>
        <p:blipFill rotWithShape="1">
          <a:blip r:embed="rId3">
            <a:alphaModFix/>
          </a:blip>
          <a:srcRect b="4942" l="0" r="0" t="0"/>
          <a:stretch/>
        </p:blipFill>
        <p:spPr>
          <a:xfrm>
            <a:off x="370750" y="2929825"/>
            <a:ext cx="8402499" cy="7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ctrTitle"/>
          </p:nvPr>
        </p:nvSpPr>
        <p:spPr>
          <a:xfrm>
            <a:off x="0" y="2311398"/>
            <a:ext cx="9144000" cy="179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Statistical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4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ctrTitle"/>
          </p:nvPr>
        </p:nvSpPr>
        <p:spPr>
          <a:xfrm>
            <a:off x="628650" y="282575"/>
            <a:ext cx="7886700" cy="7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Models to Consider</a:t>
            </a:r>
            <a:endParaRPr sz="3600"/>
          </a:p>
        </p:txBody>
      </p:sp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628650" y="1231900"/>
            <a:ext cx="7886700" cy="32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5" name="Google Shape;125;p25"/>
          <p:cNvSpPr/>
          <p:nvPr/>
        </p:nvSpPr>
        <p:spPr>
          <a:xfrm>
            <a:off x="1946075" y="1226700"/>
            <a:ext cx="5430600" cy="900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Census_MSA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Group-Level Intercept in a Hierarchical Model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1914125" y="2524525"/>
            <a:ext cx="5494500" cy="900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Qualification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Group-Level Intercept in a Hierarchical Model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536825" y="190725"/>
            <a:ext cx="7886700" cy="431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/>
              <a:t>Why Focus on Qualification?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/>
              <a:t>The bar plot shows that individuals are distributed across different education levels with the highest count in the "College Graduate" group.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/>
              <a:t>Education is a well-documented factor influencing health behavior, including vaccination decisions.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/>
              <a:t>Why Focus on Census MSA?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/>
              <a:t>The bar plot shows that individuals are distributed among three distinct geographic groups: "MSA, Non-Principal City," "MSA, Principal City," and "Non-MSA."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/>
              <a:t>Geographic location reflects access to healthcare services and exposure to public health campaigns, which likely influence vaccination rates.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/>
              <a:t>PS: MSA means “Metropolitan Statistical Area”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628650" y="206375"/>
            <a:ext cx="7886700" cy="7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Hierarchical Model</a:t>
            </a:r>
            <a:r>
              <a:rPr lang="en-US" sz="3000"/>
              <a:t> Structure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800" y="886500"/>
            <a:ext cx="5357125" cy="337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2406550"/>
            <a:ext cx="2247325" cy="5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50" y="1183550"/>
            <a:ext cx="2384050" cy="7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288" y="3535550"/>
            <a:ext cx="1239175" cy="5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428850" y="826850"/>
            <a:ext cx="1026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Likelihood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428850" y="1953088"/>
            <a:ext cx="1026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Prior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428850" y="3102650"/>
            <a:ext cx="1160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</a:rPr>
              <a:t>Hyperpriors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ctrTitle"/>
          </p:nvPr>
        </p:nvSpPr>
        <p:spPr>
          <a:xfrm>
            <a:off x="628650" y="244333"/>
            <a:ext cx="7886700" cy="7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Leave-One-Out Cross-Validation </a:t>
            </a:r>
            <a:endParaRPr sz="3000"/>
          </a:p>
        </p:txBody>
      </p:sp>
      <p:sp>
        <p:nvSpPr>
          <p:cNvPr id="149" name="Google Shape;149;p28"/>
          <p:cNvSpPr txBox="1"/>
          <p:nvPr>
            <p:ph idx="1" type="subTitle"/>
          </p:nvPr>
        </p:nvSpPr>
        <p:spPr>
          <a:xfrm>
            <a:off x="628650" y="1231900"/>
            <a:ext cx="7886700" cy="32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LOO is a resampling technique that removes one data point at a time, fits the model on the remaining data, and predicts the held-out point.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Model 2 (census_msa) has slightly better predictive accuracy than Model 1 (qualification). However, since</a:t>
            </a:r>
            <a:r>
              <a:rPr lang="en-US" sz="1800"/>
              <a:t> 0 is included in the 95% confidence interval, we fail to reject that there is a significant difference between two models. At this stage, we go with census_MSA model.</a:t>
            </a:r>
            <a:endParaRPr sz="1800"/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3">
            <a:alphaModFix/>
          </a:blip>
          <a:srcRect b="0" l="2114" r="0" t="0"/>
          <a:stretch/>
        </p:blipFill>
        <p:spPr>
          <a:xfrm>
            <a:off x="2278075" y="922050"/>
            <a:ext cx="4587850" cy="14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ctrTitle"/>
          </p:nvPr>
        </p:nvSpPr>
        <p:spPr>
          <a:xfrm>
            <a:off x="628650" y="282575"/>
            <a:ext cx="7886700" cy="70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AUC</a:t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3">
            <a:alphaModFix/>
          </a:blip>
          <a:srcRect b="0" l="0" r="0" t="1874"/>
          <a:stretch/>
        </p:blipFill>
        <p:spPr>
          <a:xfrm>
            <a:off x="756125" y="1145100"/>
            <a:ext cx="4113876" cy="23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/>
          <p:nvPr/>
        </p:nvSpPr>
        <p:spPr>
          <a:xfrm>
            <a:off x="5069150" y="1177000"/>
            <a:ext cx="4015500" cy="23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Our chosen model achieves an AUC of 0.82, indicating strong predictive performance.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ctrTitle"/>
          </p:nvPr>
        </p:nvSpPr>
        <p:spPr>
          <a:xfrm>
            <a:off x="0" y="2349499"/>
            <a:ext cx="91440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Results &amp; Interpretation</a:t>
            </a:r>
            <a:endParaRPr/>
          </a:p>
        </p:txBody>
      </p:sp>
      <p:sp>
        <p:nvSpPr>
          <p:cNvPr id="163" name="Google Shape;163;p30"/>
          <p:cNvSpPr txBox="1"/>
          <p:nvPr>
            <p:ph idx="1" type="subTitle"/>
          </p:nvPr>
        </p:nvSpPr>
        <p:spPr>
          <a:xfrm>
            <a:off x="0" y="3889983"/>
            <a:ext cx="9144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idx="1" type="subTitle"/>
          </p:nvPr>
        </p:nvSpPr>
        <p:spPr>
          <a:xfrm>
            <a:off x="212450" y="3248400"/>
            <a:ext cx="4238400" cy="199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-US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dr_recc_h1n1_vacc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(Beta 9):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 A strong recommendation from a doctor is highly predictive of vaccination behavior, as it directly influences trust and compliance with medical advice.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-US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is_health_worker</a:t>
            </a: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 (Beta 13):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 Being a healthcare worker is associated with higher vaccination rates due to greater exposure risk and better access to vaccines, making it a significant predictor.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26" y="281925"/>
            <a:ext cx="3017674" cy="31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525" y="121150"/>
            <a:ext cx="3711500" cy="229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3375" y="2509150"/>
            <a:ext cx="3429925" cy="21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" type="subTitle"/>
          </p:nvPr>
        </p:nvSpPr>
        <p:spPr>
          <a:xfrm>
            <a:off x="628650" y="1004150"/>
            <a:ext cx="7886700" cy="32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The hierarchical Bayesian model effectively captures the layered structure of H1N1 vaccination behavior, accounting for variations across demographic and different educational background groups.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Next Steps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/>
              <a:t>Evaluate predictive performance against more different group-level intercepts.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/>
              <a:t>Investigate alternative modeling techniques, including machine learning methods, to enhance prediction accuracy and scalability.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7" name="Google Shape;177;p32"/>
          <p:cNvSpPr txBox="1"/>
          <p:nvPr>
            <p:ph type="ctrTitle"/>
          </p:nvPr>
        </p:nvSpPr>
        <p:spPr>
          <a:xfrm>
            <a:off x="628650" y="282575"/>
            <a:ext cx="788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3000"/>
              <a:t>Result &amp; Next Steps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/>
        </p:nvSpPr>
        <p:spPr>
          <a:xfrm>
            <a:off x="3290850" y="1917175"/>
            <a:ext cx="25623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 Slide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itle Slide 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itle Slide 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ontent Slide 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ontent Slide 4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